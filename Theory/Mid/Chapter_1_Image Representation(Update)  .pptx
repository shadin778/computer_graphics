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57" r:id="rId4"/>
    <p:sldId id="266" r:id="rId5"/>
    <p:sldId id="267" r:id="rId6"/>
    <p:sldId id="268" r:id="rId7"/>
    <p:sldId id="269" r:id="rId8"/>
    <p:sldId id="270" r:id="rId9"/>
    <p:sldId id="271" r:id="rId10"/>
    <p:sldId id="272" r:id="rId11"/>
    <p:sldId id="273" r:id="rId12"/>
    <p:sldId id="274" r:id="rId13"/>
    <p:sldId id="275" r:id="rId14"/>
    <p:sldId id="276" r:id="rId15"/>
    <p:sldId id="277" r:id="rId16"/>
    <p:sldId id="288" r:id="rId17"/>
    <p:sldId id="305" r:id="rId19"/>
    <p:sldId id="306" r:id="rId20"/>
    <p:sldId id="283" r:id="rId21"/>
    <p:sldId id="307" r:id="rId22"/>
    <p:sldId id="308" r:id="rId23"/>
    <p:sldId id="299" r:id="rId24"/>
    <p:sldId id="298"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24"/>
  </p:normalViewPr>
  <p:slideViewPr>
    <p:cSldViewPr snapToGrid="0" snapToObjects="1" showGuides="1">
      <p:cViewPr varScale="1">
        <p:scale>
          <a:sx n="59" d="100"/>
          <a:sy n="59" d="100"/>
        </p:scale>
        <p:origin x="1500" y="52"/>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03090-89A4-4199-8EFE-9403222613FA}"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FCB41-13D7-42E8-A759-AC72FC170A9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EFCB41-13D7-42E8-A759-AC72FC170A9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9.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Image Representation</a:t>
            </a:r>
            <a:endParaRPr lang="en-US" sz="3600" dirty="0"/>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4495760"/>
          <a:ext cx="8335798" cy="1018816"/>
        </p:xfrm>
        <a:graphic>
          <a:graphicData uri="http://schemas.openxmlformats.org/drawingml/2006/table">
            <a:tbl>
              <a:tblPr firstRow="1" bandRow="1">
                <a:tableStyleId>{D7AC3CCA-C797-4891-BE02-D94E43425B78}</a:tableStyleId>
              </a:tblPr>
              <a:tblGrid>
                <a:gridCol w="1483224"/>
                <a:gridCol w="1397725"/>
                <a:gridCol w="1227909"/>
                <a:gridCol w="1309300"/>
                <a:gridCol w="1237957"/>
                <a:gridCol w="1679683"/>
              </a:tblGrid>
              <a:tr h="378736">
                <a:tc>
                  <a:txBody>
                    <a:bodyPr/>
                    <a:lstStyle/>
                    <a:p>
                      <a:r>
                        <a:rPr lang="en-US" dirty="0"/>
                        <a:t>Lecturer No:</a:t>
                      </a:r>
                      <a:endParaRPr lang="en-US" dirty="0"/>
                    </a:p>
                  </a:txBody>
                  <a:tcPr/>
                </a:tc>
                <a:tc>
                  <a:txBody>
                    <a:bodyPr/>
                    <a:lstStyle/>
                    <a:p>
                      <a:r>
                        <a:rPr lang="en-US" dirty="0"/>
                        <a:t>01</a:t>
                      </a:r>
                      <a:endParaRPr lang="en-US" dirty="0"/>
                    </a:p>
                  </a:txBody>
                  <a:tcPr/>
                </a:tc>
                <a:tc>
                  <a:txBody>
                    <a:bodyPr/>
                    <a:lstStyle/>
                    <a:p>
                      <a:r>
                        <a:rPr lang="en-US" dirty="0"/>
                        <a:t>Week No:</a:t>
                      </a:r>
                      <a:endParaRPr lang="en-US" dirty="0"/>
                    </a:p>
                  </a:txBody>
                  <a:tcPr/>
                </a:tc>
                <a:tc>
                  <a:txBody>
                    <a:bodyPr/>
                    <a:lstStyle/>
                    <a:p>
                      <a:r>
                        <a:rPr lang="en-US" dirty="0"/>
                        <a:t>1</a:t>
                      </a:r>
                      <a:endParaRPr lang="en-US" dirty="0"/>
                    </a:p>
                  </a:txBody>
                  <a:tcPr/>
                </a:tc>
                <a:tc>
                  <a:txBody>
                    <a:bodyPr/>
                    <a:lstStyle/>
                    <a:p>
                      <a:r>
                        <a:rPr lang="en-US" dirty="0"/>
                        <a:t>Semester: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Spring 2024-2025</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b="1" i="0" dirty="0"/>
                    </a:p>
                  </a:txBody>
                  <a:tcPr/>
                </a:tc>
                <a:tc hMerge="1">
                  <a:tcPr/>
                </a:tc>
                <a:tc hMerge="1">
                  <a:tcPr/>
                </a:tc>
                <a:tc hMerge="1">
                  <a:tcPr/>
                </a:tc>
                <a:tc hMerge="1">
                  <a:tcPr/>
                </a:tc>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Computer Graphics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Outline</a:t>
            </a:r>
            <a:endParaRPr lang="en-US" sz="3600" dirty="0"/>
          </a:p>
        </p:txBody>
      </p:sp>
      <p:sp>
        <p:nvSpPr>
          <p:cNvPr id="3" name="Subtitle 2"/>
          <p:cNvSpPr>
            <a:spLocks noGrp="1"/>
          </p:cNvSpPr>
          <p:nvPr>
            <p:ph type="subTitle" idx="1"/>
          </p:nvPr>
        </p:nvSpPr>
        <p:spPr>
          <a:xfrm>
            <a:off x="486697" y="2363927"/>
            <a:ext cx="7754112" cy="3786149"/>
          </a:xfrm>
        </p:spPr>
        <p:txBody>
          <a:bodyPr>
            <a:normAutofit fontScale="92500" lnSpcReduction="20000"/>
          </a:bodyPr>
          <a:lstStyle/>
          <a:p>
            <a:pPr marL="342900" indent="-342900">
              <a:buAutoNum type="arabicPeriod"/>
            </a:pPr>
            <a:r>
              <a:rPr lang="en-US" sz="3000" dirty="0">
                <a:solidFill>
                  <a:schemeClr val="tx1"/>
                </a:solidFill>
              </a:rPr>
              <a:t>Pixel</a:t>
            </a:r>
            <a:endParaRPr lang="en-US" sz="3000" dirty="0">
              <a:solidFill>
                <a:schemeClr val="tx1"/>
              </a:solidFill>
            </a:endParaRPr>
          </a:p>
          <a:p>
            <a:pPr marL="342900" indent="-342900">
              <a:buAutoNum type="arabicPeriod"/>
            </a:pPr>
            <a:r>
              <a:rPr lang="en-US" sz="3000" dirty="0">
                <a:solidFill>
                  <a:schemeClr val="tx1"/>
                </a:solidFill>
              </a:rPr>
              <a:t>Graphics Image</a:t>
            </a:r>
            <a:endParaRPr lang="en-US" sz="3000" dirty="0">
              <a:solidFill>
                <a:schemeClr val="tx1"/>
              </a:solidFill>
            </a:endParaRPr>
          </a:p>
          <a:p>
            <a:pPr marL="342900" indent="-342900">
              <a:buAutoNum type="arabicPeriod"/>
            </a:pPr>
            <a:r>
              <a:rPr lang="en-US" sz="3000" dirty="0">
                <a:solidFill>
                  <a:schemeClr val="tx1"/>
                </a:solidFill>
              </a:rPr>
              <a:t>Formation of Raster Image</a:t>
            </a:r>
            <a:endParaRPr lang="en-US" sz="3000" dirty="0">
              <a:solidFill>
                <a:schemeClr val="tx1"/>
              </a:solidFill>
            </a:endParaRPr>
          </a:p>
          <a:p>
            <a:pPr marL="342900" indent="-342900">
              <a:buAutoNum type="arabicPeriod"/>
            </a:pPr>
            <a:r>
              <a:rPr lang="en-US" sz="3000" dirty="0">
                <a:solidFill>
                  <a:schemeClr val="tx1"/>
                </a:solidFill>
              </a:rPr>
              <a:t>Formation of Vector Image</a:t>
            </a:r>
            <a:endParaRPr lang="en-US" sz="3000" dirty="0">
              <a:solidFill>
                <a:schemeClr val="tx1"/>
              </a:solidFill>
            </a:endParaRPr>
          </a:p>
          <a:p>
            <a:pPr marL="342900" indent="-342900">
              <a:buAutoNum type="arabicPeriod"/>
            </a:pPr>
            <a:r>
              <a:rPr lang="en-US" sz="3000" dirty="0">
                <a:solidFill>
                  <a:schemeClr val="tx1"/>
                </a:solidFill>
              </a:rPr>
              <a:t>Color Model</a:t>
            </a:r>
            <a:endParaRPr lang="en-US" sz="3000" dirty="0">
              <a:solidFill>
                <a:schemeClr val="tx1"/>
              </a:solidFill>
            </a:endParaRPr>
          </a:p>
          <a:p>
            <a:pPr marL="342900" indent="-342900">
              <a:buAutoNum type="arabicPeriod"/>
            </a:pPr>
            <a:r>
              <a:rPr lang="en-US" sz="3000" dirty="0">
                <a:solidFill>
                  <a:schemeClr val="tx1"/>
                </a:solidFill>
              </a:rPr>
              <a:t>Color Representation Techniques</a:t>
            </a:r>
            <a:endParaRPr lang="en-US" sz="3400" dirty="0">
              <a:solidFill>
                <a:schemeClr val="tx1"/>
              </a:solidFill>
            </a:endParaRPr>
          </a:p>
          <a:p>
            <a:pPr marL="342900" indent="-342900">
              <a:buAutoNum type="arabicPeriod"/>
            </a:pPr>
            <a:r>
              <a:rPr lang="en-US" sz="3000" dirty="0">
                <a:solidFill>
                  <a:schemeClr val="tx1"/>
                </a:solidFill>
              </a:rPr>
              <a:t>Printing</a:t>
            </a:r>
            <a:endParaRPr lang="en-US" sz="3000" dirty="0">
              <a:solidFill>
                <a:schemeClr val="tx1"/>
              </a:solidFill>
            </a:endParaRPr>
          </a:p>
          <a:p>
            <a:pPr marL="342900" indent="-342900">
              <a:buAutoNum type="arabicPeriod"/>
            </a:pPr>
            <a:r>
              <a:rPr lang="en-US" sz="3000" dirty="0">
                <a:solidFill>
                  <a:schemeClr val="tx1"/>
                </a:solidFill>
              </a:rPr>
              <a:t>Image Files</a:t>
            </a:r>
            <a:endParaRPr lang="en-US" sz="3000" dirty="0">
              <a:solidFill>
                <a:schemeClr val="tx1"/>
              </a:solidFill>
            </a:endParaRPr>
          </a:p>
          <a:p>
            <a:pPr marL="342900" indent="-342900">
              <a:buAutoNum type="arabicPeriod"/>
            </a:pPr>
            <a:r>
              <a:rPr lang="en-US" sz="3000" dirty="0">
                <a:solidFill>
                  <a:schemeClr val="tx1"/>
                </a:solidFill>
              </a:rPr>
              <a:t>Books</a:t>
            </a:r>
            <a:endParaRPr lang="en-US" sz="3000" dirty="0">
              <a:solidFill>
                <a:schemeClr val="tx1"/>
              </a:solidFill>
            </a:endParaRPr>
          </a:p>
          <a:p>
            <a:pPr marL="342900" indent="-342900">
              <a:buAutoNum type="arabicPeriod"/>
            </a:pPr>
            <a:r>
              <a:rPr lang="en-US" sz="3000" dirty="0">
                <a:solidFill>
                  <a:schemeClr val="tx1"/>
                </a:solidFill>
              </a:rPr>
              <a:t>References</a:t>
            </a:r>
            <a:endParaRPr lang="en-US" sz="30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Pixel</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t>A </a:t>
            </a:r>
            <a:r>
              <a:rPr lang="en-US" b="1" dirty="0"/>
              <a:t>pixel</a:t>
            </a:r>
            <a:r>
              <a:rPr lang="en-US" dirty="0"/>
              <a:t> (short for "picture element") is the </a:t>
            </a:r>
            <a:r>
              <a:rPr lang="en-US" dirty="0">
                <a:highlight>
                  <a:srgbClr val="FFFF00"/>
                </a:highlight>
              </a:rPr>
              <a:t>smallest unit of a digital image</a:t>
            </a:r>
            <a:r>
              <a:rPr lang="en-US" dirty="0"/>
              <a:t> that contains </a:t>
            </a:r>
            <a:r>
              <a:rPr lang="en-US" dirty="0">
                <a:highlight>
                  <a:srgbClr val="FFFF00"/>
                </a:highlight>
              </a:rPr>
              <a:t>color and intensity</a:t>
            </a:r>
            <a:r>
              <a:rPr lang="en-US" dirty="0"/>
              <a:t> information</a:t>
            </a:r>
            <a:endParaRPr lang="en-US" dirty="0"/>
          </a:p>
          <a:p>
            <a:pPr marL="285750" indent="-285750" algn="l">
              <a:buFont typeface="Arial" panose="020B0604020202020204" pitchFamily="34" charset="0"/>
              <a:buChar char="•"/>
            </a:pPr>
            <a:r>
              <a:rPr lang="en-US" dirty="0"/>
              <a:t>The pixels are arranged in a grid-like structure where </a:t>
            </a:r>
            <a:r>
              <a:rPr lang="en-US" sz="1800" b="0" i="0" u="none" strike="noStrike" baseline="0" dirty="0">
                <a:latin typeface="Times New Roman" panose="02020603050405020304" pitchFamily="18" charset="0"/>
              </a:rPr>
              <a:t>the total number of pixels is a function of the size of the image and the number of pixels per unit length (e.g. inch) in the horizontal as well as the vertical direction</a:t>
            </a:r>
            <a:endParaRPr lang="en-US" sz="1800" b="0" i="0" u="none" strike="noStrike" baseline="0" dirty="0">
              <a:latin typeface="Times New Roman" panose="02020603050405020304" pitchFamily="18" charset="0"/>
            </a:endParaRPr>
          </a:p>
          <a:p>
            <a:pPr marL="285750" indent="-285750" algn="just">
              <a:buFont typeface="Arial" panose="020B0604020202020204" pitchFamily="34" charset="0"/>
              <a:buChar char="•"/>
            </a:pPr>
            <a:r>
              <a:rPr lang="en-US" sz="1800" b="0" i="0" u="none" strike="noStrike" baseline="0" dirty="0">
                <a:latin typeface="Times New Roman" panose="02020603050405020304" pitchFamily="18" charset="0"/>
              </a:rPr>
              <a:t>The total number of pixels in an image refers to res</a:t>
            </a:r>
            <a:r>
              <a:rPr lang="en-US" dirty="0">
                <a:latin typeface="Times New Roman" panose="02020603050405020304" pitchFamily="18" charset="0"/>
              </a:rPr>
              <a:t>olution where the quality is improved when more pixels are added.</a:t>
            </a:r>
            <a:endParaRPr lang="en-US" dirty="0">
              <a:latin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rPr>
              <a:t>I</a:t>
            </a:r>
            <a:r>
              <a:rPr lang="en-US" sz="1800" b="0" i="0" u="none" strike="noStrike" baseline="0" dirty="0">
                <a:latin typeface="Times New Roman" panose="02020603050405020304" pitchFamily="18" charset="0"/>
              </a:rPr>
              <a:t>mage size given as the total number of pixels in the horizontal direction times the total number of pixels in the vertical direction might vary due to </a:t>
            </a:r>
            <a:r>
              <a:rPr lang="en-US" sz="1800" b="0" i="0" u="none" strike="noStrike" baseline="0" dirty="0">
                <a:highlight>
                  <a:srgbClr val="FFFF00"/>
                </a:highlight>
                <a:latin typeface="Times New Roman" panose="02020603050405020304" pitchFamily="18" charset="0"/>
              </a:rPr>
              <a:t>Pixels Per Inch (PPI)</a:t>
            </a:r>
            <a:endParaRPr lang="en-US" sz="1800" b="0" i="0" u="none" strike="noStrike" baseline="0" dirty="0">
              <a:highlight>
                <a:srgbClr val="FFFF00"/>
              </a:highlight>
              <a:latin typeface="Times New Roman" panose="02020603050405020304" pitchFamily="18" charset="0"/>
            </a:endParaRPr>
          </a:p>
          <a:p>
            <a:pPr marL="285750" indent="-285750" algn="l">
              <a:buFont typeface="Arial" panose="020B0604020202020204" pitchFamily="34" charset="0"/>
              <a:buChar char="•"/>
            </a:pPr>
            <a:r>
              <a:rPr lang="en-US" dirty="0">
                <a:latin typeface="Times New Roman" panose="02020603050405020304" pitchFamily="18" charset="0"/>
              </a:rPr>
              <a:t>An image is formed when the pixels when a grid is formed by setting pixels composing of coordinates and color information. </a:t>
            </a:r>
            <a:r>
              <a:rPr lang="en-US" sz="1800" b="0" i="0" u="none" strike="noStrike" baseline="0" dirty="0">
                <a:latin typeface="Times New Roman" panose="02020603050405020304" pitchFamily="18" charset="0"/>
              </a:rPr>
              <a:t>The collective effects of the pixels taking on different color attributes give us what we see as a picture</a:t>
            </a:r>
            <a:endParaRPr lang="en-US" sz="1800" b="0" i="0" u="none" strike="noStrike" baseline="0" dirty="0">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Pixel (Cont.)</a:t>
            </a:r>
            <a:endParaRPr lang="en-US" sz="3600" dirty="0"/>
          </a:p>
        </p:txBody>
      </p:sp>
      <p:sp>
        <p:nvSpPr>
          <p:cNvPr id="5" name="Subtitle 4"/>
          <p:cNvSpPr>
            <a:spLocks noGrp="1"/>
          </p:cNvSpPr>
          <p:nvPr>
            <p:ph type="subTitle" idx="1"/>
          </p:nvPr>
        </p:nvSpPr>
        <p:spPr/>
        <p:txBody>
          <a:bodyPr/>
          <a:lstStyle/>
          <a:p>
            <a:endParaRPr lang="x-none" dirty="0"/>
          </a:p>
        </p:txBody>
      </p:sp>
      <p:pic>
        <p:nvPicPr>
          <p:cNvPr id="1026" name="Picture 2" descr="Representation of an image as a grid of pixels [35]. In convolutional... |  Download Scientific Diagra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91710" y="2439891"/>
            <a:ext cx="4760580" cy="27631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531075" y="5203025"/>
            <a:ext cx="1654426" cy="369332"/>
          </a:xfrm>
          <a:prstGeom prst="rect">
            <a:avLst/>
          </a:prstGeom>
          <a:noFill/>
        </p:spPr>
        <p:txBody>
          <a:bodyPr wrap="square" rtlCol="0">
            <a:spAutoFit/>
          </a:bodyPr>
          <a:lstStyle/>
          <a:p>
            <a:r>
              <a:rPr lang="en-US" dirty="0"/>
              <a:t>Fig-1 (a): Image</a:t>
            </a:r>
            <a:endParaRPr lang="en-US" dirty="0"/>
          </a:p>
        </p:txBody>
      </p:sp>
      <p:sp>
        <p:nvSpPr>
          <p:cNvPr id="4" name="TextBox 3"/>
          <p:cNvSpPr txBox="1"/>
          <p:nvPr/>
        </p:nvSpPr>
        <p:spPr>
          <a:xfrm>
            <a:off x="4529601" y="5203025"/>
            <a:ext cx="3195685" cy="369332"/>
          </a:xfrm>
          <a:prstGeom prst="rect">
            <a:avLst/>
          </a:prstGeom>
          <a:noFill/>
        </p:spPr>
        <p:txBody>
          <a:bodyPr wrap="square" rtlCol="0">
            <a:spAutoFit/>
          </a:bodyPr>
          <a:lstStyle/>
          <a:p>
            <a:r>
              <a:rPr lang="en-US" dirty="0"/>
              <a:t>Fig-1 (b): Pixel Representation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Graphics Images</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555575" y="2105959"/>
            <a:ext cx="8032850" cy="923330"/>
          </a:xfrm>
          <a:prstGeom prst="rect">
            <a:avLst/>
          </a:prstGeom>
          <a:noFill/>
        </p:spPr>
        <p:txBody>
          <a:bodyPr wrap="square" rtlCol="0">
            <a:spAutoFit/>
          </a:bodyPr>
          <a:lstStyle/>
          <a:p>
            <a:pPr algn="just"/>
            <a:r>
              <a:rPr lang="en-US" sz="1800" b="0" i="0" u="none" strike="noStrike" baseline="0" dirty="0">
                <a:highlight>
                  <a:srgbClr val="FFFF00"/>
                </a:highlight>
                <a:latin typeface="Times New Roman" panose="02020603050405020304" pitchFamily="18" charset="0"/>
              </a:rPr>
              <a:t>There are two types of graphics image:</a:t>
            </a:r>
            <a:endParaRPr lang="en-US" sz="1800" b="0" i="0" u="none" strike="noStrike" baseline="0" dirty="0">
              <a:highlight>
                <a:srgbClr val="FFFF00"/>
              </a:highlight>
              <a:latin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rPr>
              <a:t>Raster Image</a:t>
            </a:r>
            <a:endParaRPr lang="en-US" dirty="0">
              <a:latin typeface="Times New Roman" panose="02020603050405020304" pitchFamily="18" charset="0"/>
            </a:endParaRPr>
          </a:p>
          <a:p>
            <a:pPr marL="285750" indent="-285750" algn="just">
              <a:buFont typeface="Arial" panose="020B0604020202020204" pitchFamily="34" charset="0"/>
              <a:buChar char="•"/>
            </a:pPr>
            <a:r>
              <a:rPr lang="en-US" sz="1800" b="0" i="0" u="none" strike="noStrike" baseline="0" dirty="0">
                <a:latin typeface="Times New Roman" panose="02020603050405020304" pitchFamily="18" charset="0"/>
              </a:rPr>
              <a:t>Vector Image</a:t>
            </a:r>
            <a:endParaRPr lang="en-US" sz="1800" b="0" i="0" u="none" strike="noStrike" baseline="0" dirty="0">
              <a:latin typeface="Times New Roman" panose="02020603050405020304" pitchFamily="18" charset="0"/>
            </a:endParaRPr>
          </a:p>
        </p:txBody>
      </p:sp>
      <p:pic>
        <p:nvPicPr>
          <p:cNvPr id="2050" name="Picture 2" descr="Raster graphics | Definition, Examples, Advantages, &amp; Facts | Britannica"/>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32144" y="3118190"/>
            <a:ext cx="4079712" cy="22948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27969" y="5413028"/>
            <a:ext cx="2420343" cy="369332"/>
          </a:xfrm>
          <a:prstGeom prst="rect">
            <a:avLst/>
          </a:prstGeom>
          <a:noFill/>
        </p:spPr>
        <p:txBody>
          <a:bodyPr wrap="square" rtlCol="0">
            <a:spAutoFit/>
          </a:bodyPr>
          <a:lstStyle/>
          <a:p>
            <a:r>
              <a:rPr lang="en-US" dirty="0"/>
              <a:t>Fig-2: Graphics Images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Raster Image</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t>Composed of individual pixels arranged in a grid. This gives the name Bitmap structure.</a:t>
            </a:r>
            <a:endParaRPr lang="en-US" dirty="0"/>
          </a:p>
          <a:p>
            <a:pPr marL="285750" indent="-285750" algn="just">
              <a:buFont typeface="Arial" panose="020B0604020202020204" pitchFamily="34" charset="0"/>
              <a:buChar char="•"/>
            </a:pPr>
            <a:r>
              <a:rPr lang="en-US" dirty="0"/>
              <a:t>Each pixel has a</a:t>
            </a:r>
            <a:r>
              <a:rPr lang="en-US" dirty="0">
                <a:highlight>
                  <a:srgbClr val="FFFF00"/>
                </a:highlight>
              </a:rPr>
              <a:t> fixed color value.</a:t>
            </a:r>
            <a:endParaRPr lang="en-US" dirty="0"/>
          </a:p>
          <a:p>
            <a:pPr marL="285750" indent="-285750" algn="just">
              <a:buFont typeface="Arial" panose="020B0604020202020204" pitchFamily="34" charset="0"/>
              <a:buChar char="•"/>
            </a:pPr>
            <a:r>
              <a:rPr lang="en-US" dirty="0">
                <a:highlight>
                  <a:srgbClr val="FFFF00"/>
                </a:highlight>
              </a:rPr>
              <a:t>Resolution-dependent: Scaling up results in pixelation.</a:t>
            </a:r>
            <a:endParaRPr lang="en-US" dirty="0">
              <a:highlight>
                <a:srgbClr val="FFFF00"/>
              </a:highlight>
            </a:endParaRPr>
          </a:p>
          <a:p>
            <a:pPr marL="285750" indent="-285750" algn="just">
              <a:buFont typeface="Arial" panose="020B0604020202020204" pitchFamily="34" charset="0"/>
              <a:buChar char="•"/>
            </a:pPr>
            <a:r>
              <a:rPr lang="en-US" dirty="0"/>
              <a:t>Best for photographs and detailed images.</a:t>
            </a:r>
            <a:endParaRPr lang="en-US" dirty="0"/>
          </a:p>
          <a:p>
            <a:pPr marL="285750" indent="-285750" algn="just">
              <a:buFont typeface="Arial" panose="020B0604020202020204" pitchFamily="34" charset="0"/>
              <a:buChar char="•"/>
            </a:pPr>
            <a:r>
              <a:rPr lang="en-US" dirty="0"/>
              <a:t>Common file formats: </a:t>
            </a:r>
            <a:r>
              <a:rPr lang="en-US" dirty="0">
                <a:highlight>
                  <a:srgbClr val="FFFF00"/>
                </a:highlight>
              </a:rPr>
              <a:t>JPEG, PNG, GIF, BMP, TIFF.</a:t>
            </a:r>
            <a:endParaRPr lang="en-US" dirty="0">
              <a:highlight>
                <a:srgbClr val="FFFF00"/>
              </a:highlight>
            </a:endParaRPr>
          </a:p>
          <a:p>
            <a:pPr marL="285750" indent="-285750" algn="just">
              <a:buFont typeface="Arial" panose="020B0604020202020204" pitchFamily="34" charset="0"/>
              <a:buChar char="•"/>
            </a:pPr>
            <a:r>
              <a:rPr lang="en-US" sz="1800" i="0" u="none" strike="noStrike" baseline="0" dirty="0">
                <a:latin typeface="Times New Roman" panose="02020603050405020304" pitchFamily="18" charset="0"/>
              </a:rPr>
              <a:t>Examples:</a:t>
            </a:r>
            <a:r>
              <a:rPr lang="en-US" sz="1800" i="0" u="none" strike="noStrike" baseline="0" dirty="0">
                <a:highlight>
                  <a:srgbClr val="FFFF00"/>
                </a:highlight>
                <a:latin typeface="Times New Roman" panose="02020603050405020304" pitchFamily="18" charset="0"/>
              </a:rPr>
              <a:t> </a:t>
            </a:r>
            <a:r>
              <a:rPr lang="en-US" dirty="0">
                <a:highlight>
                  <a:srgbClr val="FFFF00"/>
                </a:highlight>
              </a:rPr>
              <a:t>Digital photos, Scanned images, Screenshots</a:t>
            </a:r>
            <a:endParaRPr lang="en-US" sz="1800" i="0" u="none" strike="noStrike" baseline="0" dirty="0">
              <a:highlight>
                <a:srgbClr val="FFFF00"/>
              </a:highlight>
              <a:latin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Vector Image</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t>Made up of mathematical equations instead of pixels. Each pixel has a fixed color value.</a:t>
            </a:r>
            <a:endParaRPr lang="en-US" dirty="0"/>
          </a:p>
          <a:p>
            <a:pPr marL="285750" indent="-285750" algn="just">
              <a:buFont typeface="Arial" panose="020B0604020202020204" pitchFamily="34" charset="0"/>
              <a:buChar char="•"/>
            </a:pPr>
            <a:r>
              <a:rPr lang="en-US" dirty="0"/>
              <a:t>Resolution-independent: Can be scaled infinitely without losing quality.</a:t>
            </a:r>
            <a:endParaRPr lang="en-US" dirty="0"/>
          </a:p>
          <a:p>
            <a:pPr marL="285750" indent="-285750" algn="just">
              <a:buFont typeface="Arial" panose="020B0604020202020204" pitchFamily="34" charset="0"/>
              <a:buChar char="•"/>
            </a:pPr>
            <a:r>
              <a:rPr lang="en-US" dirty="0"/>
              <a:t>Best for</a:t>
            </a:r>
            <a:r>
              <a:rPr lang="en-US" dirty="0">
                <a:highlight>
                  <a:srgbClr val="FFFF00"/>
                </a:highlight>
              </a:rPr>
              <a:t> logos, illustrations, and text-based graphics.</a:t>
            </a:r>
            <a:endParaRPr lang="en-US" dirty="0">
              <a:highlight>
                <a:srgbClr val="FFFF00"/>
              </a:highlight>
            </a:endParaRPr>
          </a:p>
          <a:p>
            <a:pPr marL="285750" indent="-285750" algn="just">
              <a:buFont typeface="Arial" panose="020B0604020202020204" pitchFamily="34" charset="0"/>
              <a:buChar char="•"/>
            </a:pPr>
            <a:r>
              <a:rPr lang="en-US" dirty="0"/>
              <a:t>Common file formats: </a:t>
            </a:r>
            <a:r>
              <a:rPr lang="en-US" dirty="0">
                <a:highlight>
                  <a:srgbClr val="FFFF00"/>
                </a:highlight>
              </a:rPr>
              <a:t>SVG, AI, EPS, PDF.</a:t>
            </a:r>
            <a:endParaRPr lang="en-US" dirty="0">
              <a:highlight>
                <a:srgbClr val="FFFF00"/>
              </a:highlight>
            </a:endParaRPr>
          </a:p>
          <a:p>
            <a:pPr marL="285750" indent="-285750" algn="just">
              <a:buFont typeface="Arial" panose="020B0604020202020204" pitchFamily="34" charset="0"/>
              <a:buChar char="•"/>
            </a:pPr>
            <a:r>
              <a:rPr lang="en-US" sz="1800" i="0" u="none" strike="noStrike" baseline="0" dirty="0">
                <a:latin typeface="Times New Roman" panose="02020603050405020304" pitchFamily="18" charset="0"/>
              </a:rPr>
              <a:t>Example: </a:t>
            </a:r>
            <a:r>
              <a:rPr lang="en-US" dirty="0">
                <a:highlight>
                  <a:srgbClr val="FFFF00"/>
                </a:highlight>
              </a:rPr>
              <a:t>Company logos, Icons, Infographics</a:t>
            </a:r>
            <a:endParaRPr lang="en-US" sz="1800" i="0" u="none" strike="noStrike" baseline="0" dirty="0">
              <a:highlight>
                <a:srgbClr val="FFFF00"/>
              </a:highlight>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Formation of Raster Image</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3059427"/>
          </a:xfrm>
          <a:prstGeom prst="rect">
            <a:avLst/>
          </a:prstGeom>
          <a:noFill/>
        </p:spPr>
        <p:txBody>
          <a:bodyPr wrap="square" rtlCol="0">
            <a:spAutoFit/>
          </a:bodyPr>
          <a:lstStyle/>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1. Grid Structure: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 raster image is made up of a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grid of rows and columns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filled with pixels.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Each pixel acts like a small tile in a mosaic.</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2. Color Information (RGB Model):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Each pixel is assigned a color based on the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RGB (Red, Green, Blue) model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intensity of each color ranges from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0 to 255</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allowing for millions of color combinations.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800" i="0" u="none" strike="noStrike" baseline="0"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Formation of Raster Image(Cont.) </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3065647"/>
          </a:xfrm>
          <a:prstGeom prst="rect">
            <a:avLst/>
          </a:prstGeom>
          <a:noFill/>
        </p:spPr>
        <p:txBody>
          <a:bodyPr wrap="square" rtlCol="0">
            <a:spAutoFit/>
          </a:bodyPr>
          <a:lstStyle/>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3. Resolution and Detail:</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number of pixels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 the image determines its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resolution</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(e.g., 1920 × 1080 pixels).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Higher resolution = more pixels = sharper image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Lower resolution = fewer pixels = blocky or pixelated image</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when enlarged.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4. How It Displays on a Screen: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When displayed on a monitor, each pixel lights up in its assigned color.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human eye blends these pixels together, forming a smooth image.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Formation of Vector Image </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2963055"/>
          </a:xfrm>
          <a:prstGeom prst="rect">
            <a:avLst/>
          </a:prstGeom>
          <a:noFill/>
        </p:spPr>
        <p:txBody>
          <a:bodyPr wrap="square" rtlCol="0">
            <a:spAutoFit/>
          </a:bodyPr>
          <a:lstStyle/>
          <a:p>
            <a:pPr marR="0" lvl="0">
              <a:lnSpc>
                <a:spcPct val="107000"/>
              </a:lnSpc>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1. Mathematical Equations: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A vector image is made up of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points (nodes), lines, and curves</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These elements are connected using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mathematical formulas</a:t>
            </a:r>
            <a:r>
              <a:rPr lang="en-US" kern="100" dirty="0">
                <a:effectLst/>
                <a:latin typeface="Calibri" panose="020F0502020204030204" pitchFamily="34" charset="0"/>
                <a:ea typeface="Calibri" panose="020F0502020204030204" pitchFamily="34" charset="0"/>
                <a:cs typeface="Times New Roman" panose="02020603050405020304" pitchFamily="18" charset="0"/>
              </a:rPr>
              <a:t> to create shapes.</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2. Scalable and Resolution-Independent: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Since the image is based on formulas, it can be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scaled up or down without losing quality</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Unlike raster images, it doesn’t get pixelated when enlarged.</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Formation of Vector Image (Cont.) </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2370329"/>
          </a:xfrm>
          <a:prstGeom prst="rect">
            <a:avLst/>
          </a:prstGeom>
          <a:noFill/>
        </p:spPr>
        <p:txBody>
          <a:bodyPr wrap="square" rtlCol="0">
            <a:spAutoFit/>
          </a:bodyPr>
          <a:lstStyle/>
          <a:p>
            <a:pPr marR="0" lvl="0">
              <a:lnSpc>
                <a:spcPct val="107000"/>
              </a:lnSpc>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3. Color and Fill:</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Each shape in a vector image can be assigned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colors, gradients, or patterns</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 image remains sharp and clear at any size.</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4. How It Displays on a Screen:</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latin typeface="Calibri" panose="020F0502020204030204" pitchFamily="34" charset="0"/>
                <a:ea typeface="Calibri" panose="020F0502020204030204" pitchFamily="34" charset="0"/>
                <a:cs typeface="Times New Roman" panose="02020603050405020304" pitchFamily="18" charset="0"/>
              </a:rPr>
              <a:t>Rasterization (Vector to raster)</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Mapped with display pixel coordinate.</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Color Model</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968278"/>
          </a:xfrm>
          <a:prstGeom prst="rect">
            <a:avLst/>
          </a:prstGeom>
          <a:noFill/>
        </p:spPr>
        <p:txBody>
          <a:bodyPr wrap="square" rtlCol="0">
            <a:spAutoFit/>
          </a:bodyPr>
          <a:lstStyle/>
          <a:p>
            <a:pPr marR="0" lvl="0">
              <a:lnSpc>
                <a:spcPct val="107000"/>
              </a:lnSpc>
              <a:spcAft>
                <a:spcPts val="800"/>
              </a:spcAft>
              <a:tabLst>
                <a:tab pos="457200" algn="l"/>
              </a:tabLst>
            </a:pPr>
            <a:r>
              <a:rPr lang="en-US" dirty="0"/>
              <a:t>Color models are ways of representing colors in digital images. They define how colors are created and stored in a computer. The most common color models are </a:t>
            </a:r>
            <a:r>
              <a:rPr lang="en-US" b="1" dirty="0"/>
              <a:t>RGB and  CMYK. </a:t>
            </a:r>
            <a:r>
              <a:rPr lang="en-US" dirty="0"/>
              <a:t>The range of possible colors are represented through </a:t>
            </a:r>
            <a:r>
              <a:rPr lang="en-US" b="1" dirty="0"/>
              <a:t>color space</a:t>
            </a:r>
            <a:r>
              <a:rPr lang="en-US" dirty="0"/>
              <a:t>.</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783772" y="3163137"/>
            <a:ext cx="2781837" cy="2289243"/>
          </a:xfrm>
          <a:prstGeom prst="rect">
            <a:avLst/>
          </a:prstGeom>
        </p:spPr>
      </p:pic>
      <p:sp>
        <p:nvSpPr>
          <p:cNvPr id="7" name="TextBox 6"/>
          <p:cNvSpPr txBox="1"/>
          <p:nvPr/>
        </p:nvSpPr>
        <p:spPr>
          <a:xfrm>
            <a:off x="964518" y="5452380"/>
            <a:ext cx="2601091" cy="369332"/>
          </a:xfrm>
          <a:prstGeom prst="rect">
            <a:avLst/>
          </a:prstGeom>
          <a:noFill/>
        </p:spPr>
        <p:txBody>
          <a:bodyPr wrap="square" rtlCol="0">
            <a:spAutoFit/>
          </a:bodyPr>
          <a:lstStyle/>
          <a:p>
            <a:r>
              <a:rPr lang="en-US" dirty="0"/>
              <a:t>Fig-3 (a): RGB Color Space</a:t>
            </a:r>
            <a:endParaRPr lang="en-US" dirty="0"/>
          </a:p>
        </p:txBody>
      </p:sp>
      <p:pic>
        <p:nvPicPr>
          <p:cNvPr id="9" name="Picture 8"/>
          <p:cNvPicPr>
            <a:picLocks noChangeAspect="1"/>
          </p:cNvPicPr>
          <p:nvPr/>
        </p:nvPicPr>
        <p:blipFill>
          <a:blip r:embed="rId2"/>
          <a:stretch>
            <a:fillRect/>
          </a:stretch>
        </p:blipFill>
        <p:spPr>
          <a:xfrm>
            <a:off x="4883736" y="3114633"/>
            <a:ext cx="2894508" cy="2392712"/>
          </a:xfrm>
          <a:prstGeom prst="rect">
            <a:avLst/>
          </a:prstGeom>
        </p:spPr>
      </p:pic>
      <p:sp>
        <p:nvSpPr>
          <p:cNvPr id="10" name="TextBox 9"/>
          <p:cNvSpPr txBox="1"/>
          <p:nvPr/>
        </p:nvSpPr>
        <p:spPr>
          <a:xfrm>
            <a:off x="5030444" y="5476583"/>
            <a:ext cx="2747800" cy="369332"/>
          </a:xfrm>
          <a:prstGeom prst="rect">
            <a:avLst/>
          </a:prstGeom>
          <a:noFill/>
        </p:spPr>
        <p:txBody>
          <a:bodyPr wrap="square" rtlCol="0">
            <a:spAutoFit/>
          </a:bodyPr>
          <a:lstStyle/>
          <a:p>
            <a:r>
              <a:rPr lang="en-US" dirty="0"/>
              <a:t>Fig-3 (b): CMY Color Space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RGB Color Model</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3693319"/>
          </a:xfrm>
          <a:prstGeom prst="rect">
            <a:avLst/>
          </a:prstGeom>
          <a:noFill/>
        </p:spPr>
        <p:txBody>
          <a:bodyPr wrap="square" rtlCol="0">
            <a:spAutoFit/>
          </a:bodyPr>
          <a:lstStyle/>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Fig-3(a) shows coordinate system with three primary colors: R (red), G (green), and B (blue) where </a:t>
            </a:r>
            <a:r>
              <a:rPr lang="en-US" dirty="0">
                <a:latin typeface="Times New Roman" panose="02020603050405020304" pitchFamily="18" charset="0"/>
              </a:rPr>
              <a:t>e</a:t>
            </a:r>
            <a:r>
              <a:rPr lang="en-US" sz="1800" b="0" i="0" u="none" strike="noStrike" baseline="0" dirty="0">
                <a:latin typeface="Times New Roman" panose="02020603050405020304" pitchFamily="18" charset="0"/>
              </a:rPr>
              <a:t>ach primary color can take on an intensity value ranging from 0 (off—lowest) to 1 (on—highest).</a:t>
            </a:r>
            <a:endParaRPr lang="en-US" dirty="0"/>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Mixing these three primary colors at different intensity levels produces a variety of colors which is an Additive Process.</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The collection of all the colors obtainable by such a linear combination of red, green, and blue forms the cube-shaped RGB color space Fig:3(a).</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For RGB color model an arbitrary color within the cubic color space can be specified by its color coordinates: </a:t>
            </a:r>
            <a:r>
              <a:rPr lang="en-US" sz="1800" b="0" i="1" u="none" strike="noStrike" baseline="0" dirty="0">
                <a:latin typeface="Times New Roman" panose="02020603050405020304" pitchFamily="18" charset="0"/>
              </a:rPr>
              <a:t>(r, g, b). </a:t>
            </a:r>
            <a:r>
              <a:rPr lang="en-US" sz="1800" b="0" i="0" u="none" strike="noStrike" baseline="0" dirty="0">
                <a:latin typeface="Times New Roman" panose="02020603050405020304" pitchFamily="18" charset="0"/>
              </a:rPr>
              <a:t>For example, we have (0,0,0) for black, (1,1,1) for white, (1,1,0) for yellow, etc. A gray color at (0.7,0.7,0.7) has an intensity halfway between one at (0.9,0.9,0.9) and one at (0.5,0.5,0.5).</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Color specification using the RGB model is an additive process. We begin with black and add on the appropriate primary components to yield a desired color.</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CMY Color Model</a:t>
            </a:r>
            <a:endParaRPr lang="en-US" sz="3600" dirty="0"/>
          </a:p>
        </p:txBody>
      </p:sp>
      <p:sp>
        <p:nvSpPr>
          <p:cNvPr id="5" name="Subtitle 4"/>
          <p:cNvSpPr>
            <a:spLocks noGrp="1"/>
          </p:cNvSpPr>
          <p:nvPr>
            <p:ph type="subTitle" idx="1"/>
          </p:nvPr>
        </p:nvSpPr>
        <p:spPr/>
        <p:txBody>
          <a:bodyPr/>
          <a:lstStyle/>
          <a:p>
            <a:endParaRPr lang="x-none" dirty="0"/>
          </a:p>
        </p:txBody>
      </p:sp>
      <p:sp>
        <p:nvSpPr>
          <p:cNvPr id="6" name="TextBox 5"/>
          <p:cNvSpPr txBox="1"/>
          <p:nvPr/>
        </p:nvSpPr>
        <p:spPr>
          <a:xfrm>
            <a:off x="783772" y="2105959"/>
            <a:ext cx="8032850" cy="2031325"/>
          </a:xfrm>
          <a:prstGeom prst="rect">
            <a:avLst/>
          </a:prstGeom>
          <a:noFill/>
        </p:spPr>
        <p:txBody>
          <a:bodyPr wrap="square" rtlCol="0">
            <a:spAutoFit/>
          </a:bodyPr>
          <a:lstStyle/>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CMY color model, that defines colors using a subtractive process and it is  complementary to RGB Color model</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In the CMY model we begin with white and take away the appropriate primary components to yield a desired color. For example, if we subtract red from white, what remains consists of green and blue, which is cyan.</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Fig-3(b) shows a coordinate system using the three primaries' complementary colors: C (cyan), M (magenta), and Y (yellow)</a:t>
            </a: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1609726" y="4226184"/>
            <a:ext cx="5422977" cy="1111339"/>
          </a:xfrm>
          <a:prstGeom prst="rect">
            <a:avLst/>
          </a:prstGeom>
        </p:spPr>
      </p:pic>
      <p:sp>
        <p:nvSpPr>
          <p:cNvPr id="7" name="TextBox 6"/>
          <p:cNvSpPr txBox="1"/>
          <p:nvPr/>
        </p:nvSpPr>
        <p:spPr>
          <a:xfrm>
            <a:off x="2443672" y="5241757"/>
            <a:ext cx="4713049" cy="369332"/>
          </a:xfrm>
          <a:prstGeom prst="rect">
            <a:avLst/>
          </a:prstGeom>
          <a:noFill/>
        </p:spPr>
        <p:txBody>
          <a:bodyPr wrap="square" rtlCol="0">
            <a:spAutoFit/>
          </a:bodyPr>
          <a:lstStyle/>
          <a:p>
            <a:r>
              <a:rPr lang="en-US" dirty="0"/>
              <a:t>Fig-4: </a:t>
            </a:r>
            <a:r>
              <a:rPr lang="en-US" dirty="0">
                <a:latin typeface="Times New Roman" panose="02020603050405020304" pitchFamily="18" charset="0"/>
              </a:rPr>
              <a:t>C</a:t>
            </a:r>
            <a:r>
              <a:rPr lang="en-US" sz="1800" b="0" i="0" u="none" strike="noStrike" baseline="0" dirty="0">
                <a:latin typeface="Times New Roman" panose="02020603050405020304" pitchFamily="18" charset="0"/>
              </a:rPr>
              <a:t>onversion between </a:t>
            </a:r>
            <a:r>
              <a:rPr lang="en-US" sz="1800" b="0" i="0" u="none" strike="noStrike" baseline="0">
                <a:latin typeface="Times New Roman" panose="02020603050405020304" pitchFamily="18" charset="0"/>
              </a:rPr>
              <a:t>the two color </a:t>
            </a:r>
            <a:r>
              <a:rPr lang="en-US" sz="1800" b="0" i="0" u="none" strike="noStrike" baseline="0" dirty="0">
                <a:latin typeface="Times New Roman" panose="02020603050405020304" pitchFamily="18" charset="0"/>
              </a:rPr>
              <a:t>models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RGB to CMY</a:t>
            </a:r>
            <a:endParaRPr lang="en-US" sz="3600" dirty="0"/>
          </a:p>
        </p:txBody>
      </p:sp>
      <p:sp>
        <p:nvSpPr>
          <p:cNvPr id="5" name="Subtitle 4"/>
          <p:cNvSpPr>
            <a:spLocks noGrp="1"/>
          </p:cNvSpPr>
          <p:nvPr>
            <p:ph type="subTitle" idx="1"/>
          </p:nvPr>
        </p:nvSpPr>
        <p:spPr/>
        <p:txBody>
          <a:bodyPr/>
          <a:lstStyle/>
          <a:p>
            <a:endParaRPr lang="x-none" dirty="0"/>
          </a:p>
        </p:txBody>
      </p:sp>
      <p:sp>
        <p:nvSpPr>
          <p:cNvPr id="3" name="Rectangle 2"/>
          <p:cNvSpPr/>
          <p:nvPr/>
        </p:nvSpPr>
        <p:spPr>
          <a:xfrm>
            <a:off x="225776" y="2217552"/>
            <a:ext cx="8500533" cy="1477328"/>
          </a:xfrm>
          <a:prstGeom prst="rect">
            <a:avLst/>
          </a:prstGeom>
        </p:spPr>
        <p:txBody>
          <a:bodyPr wrap="square">
            <a:spAutoFit/>
          </a:bodyPr>
          <a:lstStyle/>
          <a:p>
            <a:pPr marL="342900" indent="-342900">
              <a:buFont typeface="Wingdings" panose="05000000000000000000" pitchFamily="2" charset="2"/>
              <a:buChar char="q"/>
            </a:pPr>
            <a:r>
              <a:rPr lang="en-US" dirty="0"/>
              <a:t> C = 1 –( </a:t>
            </a:r>
            <a:r>
              <a:rPr lang="en-US" dirty="0" err="1"/>
              <a:t>color.R</a:t>
            </a:r>
            <a:r>
              <a:rPr lang="en-US" dirty="0"/>
              <a:t> / 255.0);</a:t>
            </a: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M = 1 – (</a:t>
            </a:r>
            <a:r>
              <a:rPr lang="en-US" dirty="0" err="1"/>
              <a:t>color.G</a:t>
            </a:r>
            <a:r>
              <a:rPr lang="en-US" dirty="0"/>
              <a:t> / 255.0);</a:t>
            </a:r>
            <a:endParaRPr lang="en-US" dirty="0"/>
          </a:p>
          <a:p>
            <a:pPr marL="342900" indent="-342900">
              <a:buFont typeface="Wingdings" panose="05000000000000000000" pitchFamily="2" charset="2"/>
              <a:buChar char="q"/>
            </a:pPr>
            <a:endParaRPr lang="en-US" dirty="0"/>
          </a:p>
          <a:p>
            <a:pPr marL="342900" indent="-342900">
              <a:buFont typeface="Wingdings" panose="05000000000000000000" pitchFamily="2" charset="2"/>
              <a:buChar char="q"/>
            </a:pPr>
            <a:r>
              <a:rPr lang="en-US" dirty="0"/>
              <a:t>Y = 1 – (</a:t>
            </a:r>
            <a:r>
              <a:rPr lang="en-US" dirty="0" err="1"/>
              <a:t>color.B</a:t>
            </a:r>
            <a:r>
              <a:rPr lang="en-US" dirty="0"/>
              <a:t> / 255.0);</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a:t>CMY To RGB</a:t>
            </a:r>
            <a:endParaRPr lang="en-US" sz="3600" dirty="0"/>
          </a:p>
        </p:txBody>
      </p:sp>
      <p:sp>
        <p:nvSpPr>
          <p:cNvPr id="5" name="Subtitle 4"/>
          <p:cNvSpPr>
            <a:spLocks noGrp="1"/>
          </p:cNvSpPr>
          <p:nvPr>
            <p:ph type="subTitle" idx="1"/>
          </p:nvPr>
        </p:nvSpPr>
        <p:spPr/>
        <p:txBody>
          <a:bodyPr/>
          <a:lstStyle/>
          <a:p>
            <a:endParaRPr lang="x-none" dirty="0"/>
          </a:p>
        </p:txBody>
      </p:sp>
      <p:sp>
        <p:nvSpPr>
          <p:cNvPr id="3" name="Rectangle 2"/>
          <p:cNvSpPr/>
          <p:nvPr/>
        </p:nvSpPr>
        <p:spPr>
          <a:xfrm>
            <a:off x="225776" y="2217552"/>
            <a:ext cx="8500533" cy="1477328"/>
          </a:xfrm>
          <a:prstGeom prst="rect">
            <a:avLst/>
          </a:prstGeom>
        </p:spPr>
        <p:txBody>
          <a:bodyPr wrap="square">
            <a:spAutoFit/>
          </a:bodyPr>
          <a:lstStyle/>
          <a:p>
            <a:pPr marL="575945" indent="-457200">
              <a:buFont typeface="Wingdings" panose="05000000000000000000" pitchFamily="2" charset="2"/>
              <a:buChar char="q"/>
            </a:pPr>
            <a:r>
              <a:rPr lang="en-US" dirty="0"/>
              <a:t>R = (1 - C) * 255.0,</a:t>
            </a:r>
            <a:endParaRPr lang="en-US" dirty="0"/>
          </a:p>
          <a:p>
            <a:pPr marL="575945" indent="-457200">
              <a:buFont typeface="Wingdings" panose="05000000000000000000" pitchFamily="2" charset="2"/>
              <a:buChar char="q"/>
            </a:pPr>
            <a:endParaRPr lang="en-US" dirty="0"/>
          </a:p>
          <a:p>
            <a:pPr marL="575945" indent="-457200">
              <a:buFont typeface="Wingdings" panose="05000000000000000000" pitchFamily="2" charset="2"/>
              <a:buChar char="q"/>
            </a:pPr>
            <a:r>
              <a:rPr lang="en-US" dirty="0"/>
              <a:t>G = (1 - M) * 255.0,</a:t>
            </a:r>
            <a:endParaRPr lang="en-US" dirty="0"/>
          </a:p>
          <a:p>
            <a:pPr marL="575945" indent="-457200">
              <a:buFont typeface="Wingdings" panose="05000000000000000000" pitchFamily="2" charset="2"/>
              <a:buChar char="q"/>
            </a:pPr>
            <a:endParaRPr lang="en-US" dirty="0"/>
          </a:p>
          <a:p>
            <a:pPr marL="575945" indent="-457200">
              <a:buFont typeface="Wingdings" panose="05000000000000000000" pitchFamily="2" charset="2"/>
              <a:buChar char="q"/>
            </a:pPr>
            <a:r>
              <a:rPr lang="en-US" dirty="0"/>
              <a:t>B = (1 - Y) * 255.0</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Color Representation Techniques</a:t>
            </a:r>
            <a:endParaRPr lang="en-US" sz="3600" dirty="0"/>
          </a:p>
        </p:txBody>
      </p:sp>
      <p:sp>
        <p:nvSpPr>
          <p:cNvPr id="5" name="Subtitle 4"/>
          <p:cNvSpPr>
            <a:spLocks noGrp="1"/>
          </p:cNvSpPr>
          <p:nvPr>
            <p:ph type="subTitle" idx="1"/>
          </p:nvPr>
        </p:nvSpPr>
        <p:spPr/>
        <p:txBody>
          <a:bodyPr/>
          <a:lstStyle/>
          <a:p>
            <a:endParaRPr lang="x-none" dirty="0"/>
          </a:p>
        </p:txBody>
      </p:sp>
      <p:sp>
        <p:nvSpPr>
          <p:cNvPr id="3" name="Rectangle 2"/>
          <p:cNvSpPr/>
          <p:nvPr/>
        </p:nvSpPr>
        <p:spPr>
          <a:xfrm>
            <a:off x="263297" y="2321004"/>
            <a:ext cx="8429148" cy="3139321"/>
          </a:xfrm>
          <a:prstGeom prst="rect">
            <a:avLst/>
          </a:prstGeom>
        </p:spPr>
        <p:txBody>
          <a:bodyPr wrap="square">
            <a:spAutoFit/>
          </a:bodyPr>
          <a:lstStyle/>
          <a:p>
            <a:r>
              <a:rPr lang="en-US" dirty="0"/>
              <a:t>In digital image processing different methods of storing and accessing pixel color information. Two common methods are: </a:t>
            </a:r>
            <a:r>
              <a:rPr lang="en-US" b="1" dirty="0"/>
              <a:t>Direct coding</a:t>
            </a:r>
            <a:r>
              <a:rPr lang="en-US" dirty="0"/>
              <a:t> and </a:t>
            </a:r>
            <a:r>
              <a:rPr lang="en-US" b="1" dirty="0"/>
              <a:t>Lookup Tables (LUTs)</a:t>
            </a:r>
            <a:endParaRPr lang="en-US" b="1" dirty="0"/>
          </a:p>
          <a:p>
            <a:endParaRPr lang="en-US" b="1" dirty="0"/>
          </a:p>
          <a:p>
            <a:r>
              <a:rPr lang="en-US" b="1" dirty="0"/>
              <a:t>Direct Coding:</a:t>
            </a:r>
            <a:endParaRPr lang="en-US" b="1" dirty="0"/>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Using direct coding we allocate a certain amount of storage space for each pixel to code its color.</a:t>
            </a:r>
            <a:r>
              <a:rPr lang="en-US" dirty="0"/>
              <a:t> </a:t>
            </a:r>
            <a:endParaRPr lang="en-US" dirty="0"/>
          </a:p>
          <a:p>
            <a:pPr marL="285750" indent="-285750" algn="l">
              <a:buFont typeface="Arial" panose="020B0604020202020204" pitchFamily="34" charset="0"/>
              <a:buChar char="•"/>
            </a:pPr>
            <a:r>
              <a:rPr lang="en-US" dirty="0">
                <a:latin typeface="Times New Roman" panose="02020603050405020304" pitchFamily="18" charset="0"/>
              </a:rPr>
              <a:t>W</a:t>
            </a:r>
            <a:r>
              <a:rPr lang="en-US" sz="1800" b="0" i="0" u="none" strike="noStrike" baseline="0" dirty="0">
                <a:latin typeface="Times New Roman" panose="02020603050405020304" pitchFamily="18" charset="0"/>
              </a:rPr>
              <a:t>e may allocate 3 bits for each pixel, with one bit for each primary color</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This 3-bit representation allows each primary to vary independently between two intensity levels: 0 (off) or 1 (on).</a:t>
            </a:r>
            <a:endParaRPr lang="en-US" sz="1800" b="0" i="0" u="none" strike="noStrike" baseline="0" dirty="0">
              <a:latin typeface="Times New Roman" panose="02020603050405020304" pitchFamily="18" charset="0"/>
            </a:endParaRPr>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Hence each pixel can take on one of the eight colors that correspond to the corners of the RGB color cube.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71339"/>
            <a:ext cx="7808976" cy="1320325"/>
          </a:xfrm>
        </p:spPr>
        <p:txBody>
          <a:bodyPr>
            <a:normAutofit/>
          </a:bodyPr>
          <a:lstStyle/>
          <a:p>
            <a:r>
              <a:rPr lang="en-US" sz="3600" dirty="0"/>
              <a:t>Color Representation Techniques </a:t>
            </a:r>
            <a:br>
              <a:rPr lang="en-US" sz="3600" dirty="0"/>
            </a:br>
            <a:r>
              <a:rPr lang="en-US" sz="3600" dirty="0"/>
              <a:t>(Cont.)</a:t>
            </a:r>
            <a:endParaRPr lang="en-US" sz="3600" dirty="0"/>
          </a:p>
        </p:txBody>
      </p:sp>
      <mc:AlternateContent xmlns:mc="http://schemas.openxmlformats.org/markup-compatibility/2006">
        <mc:Choice xmlns:a14="http://schemas.microsoft.com/office/drawing/2010/main" Requires="a14">
          <p:sp>
            <p:nvSpPr>
              <p:cNvPr id="3" name="Rectangle 2"/>
              <p:cNvSpPr/>
              <p:nvPr/>
            </p:nvSpPr>
            <p:spPr>
              <a:xfrm>
                <a:off x="263297" y="2321004"/>
                <a:ext cx="8429148" cy="3139321"/>
              </a:xfrm>
              <a:prstGeom prst="rect">
                <a:avLst/>
              </a:prstGeom>
            </p:spPr>
            <p:txBody>
              <a:bodyPr wrap="square">
                <a:spAutoFit/>
              </a:bodyPr>
              <a:lstStyle/>
              <a:p>
                <a:r>
                  <a:rPr lang="en-US" i="1" dirty="0"/>
                  <a:t>Direct Coding Example: Color Palette </a:t>
                </a:r>
                <a:endParaRPr lang="en-US" i="1" dirty="0"/>
              </a:p>
              <a:p>
                <a:endParaRPr lang="en-US" i="1" dirty="0"/>
              </a:p>
              <a:p>
                <a:r>
                  <a:rPr lang="en-US" b="1" dirty="0"/>
                  <a:t>  3-bit RGB</a:t>
                </a:r>
                <a:endParaRPr lang="en-US" b="1" dirty="0"/>
              </a:p>
              <a:p>
                <a:pPr marL="118745" indent="0" algn="just">
                  <a:buNone/>
                </a:pPr>
                <a:r>
                  <a:rPr lang="en-US" dirty="0"/>
                  <a:t>Systems with a 3-bit RGB palette use 1 bit for each of the red, green and blue color components. That is, each component is either "on" or "off" with no intermediate states. This results in an 8-color </a:t>
                </a:r>
                <a:r>
                  <a:rPr lang="en-US" b="1" dirty="0"/>
                  <a:t> ((2</a:t>
                </a:r>
                <a:r>
                  <a:rPr lang="en-US" b="1" baseline="30000" dirty="0"/>
                  <a:t>1</a:t>
                </a:r>
                <a:r>
                  <a:rPr lang="en-US" b="1" dirty="0"/>
                  <a:t>)</a:t>
                </a:r>
                <a:r>
                  <a:rPr lang="en-US" b="1" baseline="30000" dirty="0"/>
                  <a:t>3</a:t>
                </a:r>
                <a:r>
                  <a:rPr lang="en-US" b="1" dirty="0"/>
                  <a:t> = 8) </a:t>
                </a:r>
                <a:r>
                  <a:rPr lang="en-US" dirty="0"/>
                  <a:t>palette</a:t>
                </a:r>
                <a:endParaRPr lang="en-US" dirty="0"/>
              </a:p>
              <a:p>
                <a:pPr marL="118745" indent="0" algn="just">
                  <a:buNone/>
                </a:pPr>
                <a:r>
                  <a:rPr lang="en-US" b="1" dirty="0"/>
                  <a:t>6-bit RGB</a:t>
                </a:r>
                <a:endParaRPr lang="en-US" b="1" dirty="0"/>
              </a:p>
              <a:p>
                <a:pPr marL="118745" indent="0" algn="just">
                  <a:buNone/>
                </a:pPr>
                <a:r>
                  <a:rPr lang="en-US" dirty="0"/>
                  <a:t>Systems with a 6-bit RGB palette use 2 bits for each of the red, green, and blue color components. This results in a </a:t>
                </a:r>
                <a:r>
                  <a:rPr lang="en-US" b="1" dirty="0"/>
                  <a:t>((2</a:t>
                </a:r>
                <a:r>
                  <a:rPr lang="en-US" b="1" baseline="30000" dirty="0"/>
                  <a:t>2</a:t>
                </a:r>
                <a:r>
                  <a:rPr lang="en-US" b="1" dirty="0"/>
                  <a:t>)</a:t>
                </a:r>
                <a:r>
                  <a:rPr lang="en-US" b="1" baseline="30000" dirty="0"/>
                  <a:t>3</a:t>
                </a:r>
                <a:r>
                  <a:rPr lang="en-US" b="1" dirty="0"/>
                  <a:t> =  64) </a:t>
                </a:r>
                <a:r>
                  <a:rPr lang="en-US" dirty="0"/>
                  <a:t> palette</a:t>
                </a:r>
                <a:endParaRPr lang="en-US" dirty="0"/>
              </a:p>
              <a:p>
                <a:pPr marL="118745" indent="0" algn="just">
                  <a:buNone/>
                </a:pPr>
                <a:endParaRPr lang="en-US" dirty="0"/>
              </a:p>
              <a:p>
                <a:pPr marL="118745" indent="0" algn="just">
                  <a:buNone/>
                </a:pPr>
                <a:r>
                  <a:rPr lang="en-US" dirty="0"/>
                  <a:t>General Formula: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r>
                          <a:rPr lang="en-US" b="0" i="1" smtClean="0">
                            <a:latin typeface="Cambria Math" panose="02040503050406030204" pitchFamily="18" charset="0"/>
                          </a:rPr>
                          <m:t>)</m:t>
                        </m:r>
                      </m:e>
                      <m:sup>
                        <m:r>
                          <a:rPr lang="en-US" b="0" i="1" smtClean="0">
                            <a:latin typeface="Cambria Math" panose="02040503050406030204" pitchFamily="18" charset="0"/>
                          </a:rPr>
                          <m:t>3</m:t>
                        </m:r>
                      </m:sup>
                    </m:sSup>
                  </m:oMath>
                </a14:m>
                <a:r>
                  <a:rPr lang="en-US" dirty="0"/>
                  <a:t>, where n = total number of bits assigned for each primary color</a:t>
                </a:r>
                <a:endParaRPr lang="en-US" dirty="0"/>
              </a:p>
            </p:txBody>
          </p:sp>
        </mc:Choice>
        <mc:Fallback>
          <p:sp>
            <p:nvSpPr>
              <p:cNvPr id="3" name="Rectangle 2"/>
              <p:cNvSpPr>
                <a:spLocks noRot="1" noChangeAspect="1" noMove="1" noResize="1" noEditPoints="1" noAdjustHandles="1" noChangeArrowheads="1" noChangeShapeType="1" noTextEdit="1"/>
              </p:cNvSpPr>
              <p:nvPr/>
            </p:nvSpPr>
            <p:spPr>
              <a:xfrm>
                <a:off x="263297" y="2321004"/>
                <a:ext cx="8429148" cy="3139321"/>
              </a:xfrm>
              <a:prstGeom prst="rect">
                <a:avLst/>
              </a:prstGeom>
              <a:blipFill rotWithShape="1">
                <a:blip r:embed="rId1"/>
                <a:stretch>
                  <a:fillRect l="-5" t="-3" r="7" b="19"/>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71339"/>
            <a:ext cx="7808976" cy="1320325"/>
          </a:xfrm>
        </p:spPr>
        <p:txBody>
          <a:bodyPr>
            <a:normAutofit/>
          </a:bodyPr>
          <a:lstStyle/>
          <a:p>
            <a:r>
              <a:rPr lang="en-US" sz="3600" dirty="0"/>
              <a:t>Color Representation Techniques </a:t>
            </a:r>
            <a:br>
              <a:rPr lang="en-US" sz="3600" dirty="0"/>
            </a:br>
            <a:r>
              <a:rPr lang="en-US" sz="3600" dirty="0"/>
              <a:t>(Cont.)</a:t>
            </a:r>
            <a:endParaRPr lang="en-US" sz="3600" dirty="0"/>
          </a:p>
        </p:txBody>
      </p:sp>
      <p:sp>
        <p:nvSpPr>
          <p:cNvPr id="3" name="Rectangle 2"/>
          <p:cNvSpPr/>
          <p:nvPr/>
        </p:nvSpPr>
        <p:spPr>
          <a:xfrm>
            <a:off x="263297" y="2321004"/>
            <a:ext cx="8429148" cy="1754326"/>
          </a:xfrm>
          <a:prstGeom prst="rect">
            <a:avLst/>
          </a:prstGeom>
        </p:spPr>
        <p:txBody>
          <a:bodyPr wrap="square" lIns="91440" tIns="45720" rIns="91440" bIns="45720" anchor="t">
            <a:spAutoFit/>
          </a:bodyPr>
          <a:lstStyle/>
          <a:p>
            <a:r>
              <a:rPr lang="en-US" b="1" dirty="0"/>
              <a:t>  </a:t>
            </a:r>
            <a:r>
              <a:rPr lang="en-US" b="1" dirty="0" err="1"/>
              <a:t>LookUp</a:t>
            </a:r>
            <a:r>
              <a:rPr lang="en-US" b="1" dirty="0"/>
              <a:t> Table</a:t>
            </a:r>
            <a:endParaRPr lang="en-US" b="1" dirty="0"/>
          </a:p>
          <a:p>
            <a:pPr marL="285750" indent="-285750" algn="l">
              <a:buFont typeface="Arial" panose="020B0604020202020204" pitchFamily="34" charset="0"/>
              <a:buChar char="•"/>
            </a:pPr>
            <a:r>
              <a:rPr lang="en-US" sz="1800" b="0" i="0" u="none" strike="noStrike" baseline="0" dirty="0">
                <a:latin typeface="Times New Roman" panose="02020603050405020304" pitchFamily="18" charset="0"/>
              </a:rPr>
              <a:t>In this approach pixel values do not code colors directly. Instead, they are addresses or indices into a table of color values.</a:t>
            </a:r>
            <a:endParaRPr lang="en-US" sz="1800" b="0" i="0" u="none" strike="noStrike" baseline="0" dirty="0">
              <a:latin typeface="Times New Roman" panose="02020603050405020304" pitchFamily="18" charset="0"/>
            </a:endParaRPr>
          </a:p>
          <a:p>
            <a:pPr marL="285750" indent="-285750">
              <a:buFont typeface="Arial" panose="020B0604020202020204" pitchFamily="34" charset="0"/>
              <a:buChar char="•"/>
            </a:pPr>
            <a:r>
              <a:rPr lang="en-US" sz="1800" b="0" i="0" u="none" strike="noStrike" baseline="0" dirty="0">
                <a:latin typeface="Times New Roman" panose="02020603050405020304"/>
                <a:cs typeface="Times New Roman" panose="02020603050405020304"/>
              </a:rPr>
              <a:t>The color of a particular pixel is determined by the color value in the table entry that </a:t>
            </a:r>
            <a:r>
              <a:rPr lang="en-US" dirty="0">
                <a:latin typeface="Times New Roman" panose="02020603050405020304"/>
                <a:cs typeface="Times New Roman" panose="02020603050405020304"/>
              </a:rPr>
              <a:t>the value</a:t>
            </a:r>
            <a:r>
              <a:rPr lang="en-US" sz="1800" b="0" i="0" u="none" strike="noStrike" baseline="0" dirty="0">
                <a:latin typeface="Times New Roman" panose="02020603050405020304"/>
                <a:cs typeface="Times New Roman" panose="02020603050405020304"/>
              </a:rPr>
              <a:t> of the pixel references.</a:t>
            </a:r>
            <a:endParaRPr lang="en-US" dirty="0">
              <a:latin typeface="Times New Roman" panose="02020603050405020304"/>
              <a:cs typeface="Times New Roman" panose="02020603050405020304"/>
            </a:endParaRPr>
          </a:p>
          <a:p>
            <a:pPr algn="l"/>
            <a:endParaRPr lang="en-US" dirty="0"/>
          </a:p>
        </p:txBody>
      </p:sp>
      <p:pic>
        <p:nvPicPr>
          <p:cNvPr id="7" name="Picture 6"/>
          <p:cNvPicPr>
            <a:picLocks noChangeAspect="1"/>
          </p:cNvPicPr>
          <p:nvPr/>
        </p:nvPicPr>
        <p:blipFill>
          <a:blip r:embed="rId1"/>
          <a:stretch>
            <a:fillRect/>
          </a:stretch>
        </p:blipFill>
        <p:spPr>
          <a:xfrm>
            <a:off x="4135844" y="3429000"/>
            <a:ext cx="3751578" cy="2557021"/>
          </a:xfrm>
          <a:prstGeom prst="rect">
            <a:avLst/>
          </a:prstGeom>
        </p:spPr>
      </p:pic>
      <p:sp>
        <p:nvSpPr>
          <p:cNvPr id="8" name="TextBox 7"/>
          <p:cNvSpPr txBox="1"/>
          <p:nvPr/>
        </p:nvSpPr>
        <p:spPr>
          <a:xfrm>
            <a:off x="5770628" y="5838199"/>
            <a:ext cx="2601091" cy="369332"/>
          </a:xfrm>
          <a:prstGeom prst="rect">
            <a:avLst/>
          </a:prstGeom>
          <a:noFill/>
        </p:spPr>
        <p:txBody>
          <a:bodyPr wrap="square" rtlCol="0">
            <a:spAutoFit/>
          </a:bodyPr>
          <a:lstStyle/>
          <a:p>
            <a:r>
              <a:rPr lang="en-US" dirty="0"/>
              <a:t>Fig-5: </a:t>
            </a:r>
            <a:r>
              <a:rPr lang="en-US" dirty="0">
                <a:latin typeface="Times New Roman" panose="02020603050405020304" pitchFamily="18" charset="0"/>
              </a:rPr>
              <a:t>L</a:t>
            </a:r>
            <a:r>
              <a:rPr lang="en-US" sz="1800" b="0" i="0" u="none" strike="noStrike" baseline="0" dirty="0">
                <a:latin typeface="Times New Roman" panose="02020603050405020304" pitchFamily="18" charset="0"/>
              </a:rPr>
              <a:t>ookup table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38352"/>
            <a:ext cx="7808976" cy="861039"/>
          </a:xfrm>
        </p:spPr>
        <p:txBody>
          <a:bodyPr>
            <a:normAutofit/>
          </a:bodyPr>
          <a:lstStyle/>
          <a:p>
            <a:r>
              <a:rPr lang="en-US" sz="3600" dirty="0"/>
              <a:t>Printing</a:t>
            </a:r>
            <a:endParaRPr lang="en-US" sz="3600" dirty="0"/>
          </a:p>
        </p:txBody>
      </p:sp>
      <p:sp>
        <p:nvSpPr>
          <p:cNvPr id="3" name="Rectangle 2"/>
          <p:cNvSpPr/>
          <p:nvPr/>
        </p:nvSpPr>
        <p:spPr>
          <a:xfrm>
            <a:off x="263297" y="2321004"/>
            <a:ext cx="8429148" cy="3139321"/>
          </a:xfrm>
          <a:prstGeom prst="rect">
            <a:avLst/>
          </a:prstGeom>
        </p:spPr>
        <p:txBody>
          <a:bodyPr wrap="square" lIns="91440" tIns="45720" rIns="91440" bIns="45720" anchor="t">
            <a:spAutoFit/>
          </a:bodyPr>
          <a:lstStyle/>
          <a:p>
            <a:pPr marL="285750" indent="-285750">
              <a:buFont typeface="Arial" panose="020B0604020202020204"/>
              <a:buChar char="•"/>
            </a:pPr>
            <a:r>
              <a:rPr lang="en-US" dirty="0">
                <a:ea typeface="+mn-lt"/>
                <a:cs typeface="+mn-lt"/>
              </a:rPr>
              <a:t>A printer deposits color pigments onto a print media, changing the light reflected from its surface and making it possible for us to see the print result.</a:t>
            </a:r>
            <a:endParaRPr lang="en-US"/>
          </a:p>
          <a:p>
            <a:pPr marL="285750" indent="-285750">
              <a:buFont typeface="Arial" panose="020B0604020202020204"/>
              <a:buChar char="•"/>
            </a:pPr>
            <a:r>
              <a:rPr lang="en-US" dirty="0">
                <a:ea typeface="+mn-lt"/>
                <a:cs typeface="+mn-lt"/>
              </a:rPr>
              <a:t>Given the fact that the most commonly used print media is a piece of white paper, we can in principle utilize three types of pigments (cyan, magenta, and yellow) to regulate </a:t>
            </a:r>
            <a:r>
              <a:rPr lang="en-US">
                <a:ea typeface="+mn-lt"/>
                <a:cs typeface="+mn-lt"/>
              </a:rPr>
              <a:t>the amount of red, green, and blue light reflected to yield all RGB colors</a:t>
            </a:r>
            <a:endParaRPr lang="en-US">
              <a:ea typeface="+mn-lt"/>
              <a:cs typeface="+mn-lt"/>
            </a:endParaRPr>
          </a:p>
          <a:p>
            <a:pPr marL="285750" indent="-285750">
              <a:buFont typeface="Arial" panose="020B0604020202020204"/>
              <a:buChar char="•"/>
            </a:pPr>
            <a:r>
              <a:rPr lang="en-US" dirty="0">
                <a:ea typeface="+mn-lt"/>
                <a:cs typeface="+mn-lt"/>
              </a:rPr>
              <a:t>While some printing methods allow color pigments to blend together, in many cases the </a:t>
            </a:r>
            <a:r>
              <a:rPr lang="en-US">
                <a:ea typeface="+mn-lt"/>
                <a:cs typeface="+mn-lt"/>
              </a:rPr>
              <a:t>various color pigments remain separate in the form of tiny dots on the print media.</a:t>
            </a:r>
            <a:endParaRPr lang="en-US">
              <a:ea typeface="+mn-lt"/>
              <a:cs typeface="+mn-lt"/>
            </a:endParaRPr>
          </a:p>
          <a:p>
            <a:pPr marL="285750" indent="-285750">
              <a:buFont typeface="Arial" panose="020B0604020202020204"/>
              <a:buChar char="•"/>
            </a:pPr>
            <a:r>
              <a:rPr lang="en-US">
                <a:ea typeface="+mn-lt"/>
                <a:cs typeface="+mn-lt"/>
              </a:rPr>
              <a:t>Halftone is a technique used to create the illusion of shades and gradients using only dots of varying sizes and spacing. It is commonly used in printing, newspapers, and comic books to represent images with limited colors.</a:t>
            </a:r>
            <a:endParaRPr lang="en-US">
              <a:ea typeface="Calibri" panose="020F0502020204030204"/>
              <a:cs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Halftone Image</a:t>
            </a:r>
            <a:endParaRPr lang="en-US" sz="3600" dirty="0"/>
          </a:p>
        </p:txBody>
      </p:sp>
      <p:sp>
        <p:nvSpPr>
          <p:cNvPr id="5" name="Subtitle 4"/>
          <p:cNvSpPr>
            <a:spLocks noGrp="1"/>
          </p:cNvSpPr>
          <p:nvPr>
            <p:ph type="subTitle" idx="1"/>
          </p:nvPr>
        </p:nvSpPr>
        <p:spPr/>
        <p:txBody>
          <a:bodyPr/>
          <a:lstStyle/>
          <a:p>
            <a:endParaRPr lang="x-none" dirty="0"/>
          </a:p>
        </p:txBody>
      </p:sp>
      <p:sp>
        <p:nvSpPr>
          <p:cNvPr id="3" name="Rectangle 2"/>
          <p:cNvSpPr/>
          <p:nvPr/>
        </p:nvSpPr>
        <p:spPr>
          <a:xfrm>
            <a:off x="274586" y="2367171"/>
            <a:ext cx="8429148" cy="3416320"/>
          </a:xfrm>
          <a:prstGeom prst="rect">
            <a:avLst/>
          </a:prstGeom>
        </p:spPr>
        <p:txBody>
          <a:bodyPr wrap="square">
            <a:spAutoFit/>
          </a:bodyPr>
          <a:lstStyle/>
          <a:p>
            <a:pPr marL="342900" indent="-342900" algn="just">
              <a:buFont typeface="Arial" panose="020B0604020202020204" pitchFamily="34" charset="0"/>
              <a:buChar char="•"/>
            </a:pPr>
            <a:r>
              <a:rPr lang="en-US" sz="2400" dirty="0"/>
              <a:t>A halftone, or halftone image, is an image comprised of discrete dots rather than continuous tones. When viewed from a distance, the dots blur together, creating the illusion of continuous lines and shapes.</a:t>
            </a:r>
            <a:endParaRPr lang="en-US" sz="2400" dirty="0"/>
          </a:p>
          <a:p>
            <a:pPr marL="342900" indent="-342900" algn="just">
              <a:buFont typeface="Arial" panose="020B0604020202020204" pitchFamily="34" charset="0"/>
              <a:buChar char="•"/>
            </a:pPr>
            <a:r>
              <a:rPr lang="en-US" sz="2400" dirty="0"/>
              <a:t>These dots are arranged in a pattern that forms a 45° screen angle with the horizon</a:t>
            </a:r>
            <a:endParaRPr lang="en-US" sz="2400" dirty="0"/>
          </a:p>
          <a:p>
            <a:pPr marL="342900" indent="-342900" algn="just">
              <a:buFont typeface="Arial" panose="020B0604020202020204" pitchFamily="34" charset="0"/>
              <a:buChar char="•"/>
            </a:pPr>
            <a:r>
              <a:rPr lang="en-US" sz="2400" dirty="0"/>
              <a:t>The size of the dots is inversely proportional to the intended intensity level</a:t>
            </a:r>
            <a:endParaRPr lang="en-US" sz="2400" dirty="0"/>
          </a:p>
          <a:p>
            <a:pPr algn="just"/>
            <a:r>
              <a:rPr lang="en-US" sz="2400" dirty="0"/>
              <a:t> </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a:t>Halftone</a:t>
            </a:r>
            <a:endParaRPr lang="en-US" sz="3600" dirty="0"/>
          </a:p>
        </p:txBody>
      </p:sp>
      <p:sp>
        <p:nvSpPr>
          <p:cNvPr id="5" name="Subtitle 4"/>
          <p:cNvSpPr>
            <a:spLocks noGrp="1"/>
          </p:cNvSpPr>
          <p:nvPr>
            <p:ph type="subTitle" idx="1"/>
          </p:nvPr>
        </p:nvSpPr>
        <p:spPr/>
        <p:txBody>
          <a:bodyPr/>
          <a:lstStyle/>
          <a:p>
            <a:endParaRPr lang="x-none" dirty="0"/>
          </a:p>
        </p:txBody>
      </p:sp>
      <p:sp>
        <p:nvSpPr>
          <p:cNvPr id="3" name="Rectangle 2"/>
          <p:cNvSpPr/>
          <p:nvPr/>
        </p:nvSpPr>
        <p:spPr>
          <a:xfrm>
            <a:off x="274586" y="2367171"/>
            <a:ext cx="8429148" cy="2677656"/>
          </a:xfrm>
          <a:prstGeom prst="rect">
            <a:avLst/>
          </a:prstGeom>
        </p:spPr>
        <p:txBody>
          <a:bodyPr wrap="square">
            <a:spAutoFit/>
          </a:bodyPr>
          <a:lstStyle/>
          <a:p>
            <a:pPr marL="285750" indent="-285750">
              <a:buFont typeface="Wingdings" panose="05000000000000000000" pitchFamily="2" charset="2"/>
              <a:buChar char="q"/>
            </a:pPr>
            <a:r>
              <a:rPr lang="en-US" sz="2400" b="1" dirty="0"/>
              <a:t>Halftone</a:t>
            </a:r>
            <a:r>
              <a:rPr lang="en-US" sz="2400" dirty="0"/>
              <a:t> is the technique that simulates continuous tone imagery through the use of dots.</a:t>
            </a:r>
            <a:endParaRPr lang="en-US" sz="2400" dirty="0"/>
          </a:p>
          <a:p>
            <a:pPr marL="285750" indent="-285750">
              <a:buFont typeface="Wingdings" panose="05000000000000000000" pitchFamily="2" charset="2"/>
              <a:buChar char="q"/>
            </a:pPr>
            <a:r>
              <a:rPr lang="en-US" sz="2400" dirty="0"/>
              <a:t>Dots can be varied either </a:t>
            </a:r>
            <a:endParaRPr lang="en-US" sz="2400" dirty="0"/>
          </a:p>
          <a:p>
            <a:pPr marL="742950" lvl="1" indent="-285750">
              <a:buFont typeface="Arial" panose="020B0604020202020204" pitchFamily="34" charset="0"/>
              <a:buChar char="•"/>
            </a:pPr>
            <a:r>
              <a:rPr lang="en-US" sz="2400" dirty="0"/>
              <a:t>in size</a:t>
            </a:r>
            <a:endParaRPr lang="en-US" sz="2400" dirty="0"/>
          </a:p>
          <a:p>
            <a:pPr marL="742950" lvl="1" indent="-285750">
              <a:buFont typeface="Arial" panose="020B0604020202020204" pitchFamily="34" charset="0"/>
              <a:buChar char="•"/>
            </a:pPr>
            <a:r>
              <a:rPr lang="en-US" sz="2400" dirty="0"/>
              <a:t>in shape or </a:t>
            </a:r>
            <a:endParaRPr lang="en-US" sz="2400" dirty="0"/>
          </a:p>
          <a:p>
            <a:pPr marL="742950" lvl="1" indent="-285750">
              <a:buFont typeface="Arial" panose="020B0604020202020204" pitchFamily="34" charset="0"/>
              <a:buChar char="•"/>
            </a:pPr>
            <a:r>
              <a:rPr lang="en-US" sz="2400" dirty="0"/>
              <a:t>in spacing</a:t>
            </a:r>
            <a:endParaRPr lang="en-US" sz="2400" dirty="0"/>
          </a:p>
          <a:p>
            <a:pPr marL="285750" indent="-285750">
              <a:buFont typeface="Wingdings" panose="05000000000000000000" pitchFamily="2" charset="2"/>
              <a:buChar char="q"/>
            </a:pPr>
            <a:r>
              <a:rPr lang="en-US" sz="2400" dirty="0"/>
              <a:t>Halftone  generates a gradient like effect.</a:t>
            </a:r>
            <a:endParaRPr lang="en-US" sz="2400"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8219</Words>
  <Application>WPS Presentation</Application>
  <PresentationFormat>On-screen Show (4:3)</PresentationFormat>
  <Paragraphs>210</Paragraphs>
  <Slides>22</Slides>
  <Notes>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vt:i4>
      </vt:variant>
    </vt:vector>
  </HeadingPairs>
  <TitlesOfParts>
    <vt:vector size="38" baseType="lpstr">
      <vt:lpstr>Arial</vt:lpstr>
      <vt:lpstr>SimSun</vt:lpstr>
      <vt:lpstr>Wingdings</vt:lpstr>
      <vt:lpstr>Wingdings</vt:lpstr>
      <vt:lpstr>Times New Roman</vt:lpstr>
      <vt:lpstr>Calibri</vt:lpstr>
      <vt:lpstr>Symbol</vt:lpstr>
      <vt:lpstr>Courier New</vt:lpstr>
      <vt:lpstr>Corbel</vt:lpstr>
      <vt:lpstr>Microsoft YaHei</vt:lpstr>
      <vt:lpstr>Arial Unicode MS</vt:lpstr>
      <vt:lpstr>Cambria Math</vt:lpstr>
      <vt:lpstr>Times New Roman</vt:lpstr>
      <vt:lpstr>Arial</vt:lpstr>
      <vt:lpstr>Calibri</vt:lpstr>
      <vt:lpstr>Spectrum</vt:lpstr>
      <vt:lpstr>Image Representation</vt:lpstr>
      <vt:lpstr>Outline</vt:lpstr>
      <vt:lpstr>Pixel</vt:lpstr>
      <vt:lpstr>Pixel (Cont.)</vt:lpstr>
      <vt:lpstr>Graphics Images</vt:lpstr>
      <vt:lpstr>Raster Image</vt:lpstr>
      <vt:lpstr>Vector Image</vt:lpstr>
      <vt:lpstr>Formation of Raster Image</vt:lpstr>
      <vt:lpstr>Formation of Raster Image(Cont.) </vt:lpstr>
      <vt:lpstr>Formation of Vector Image </vt:lpstr>
      <vt:lpstr>Formation of Vector Image (Cont.) </vt:lpstr>
      <vt:lpstr>Color Model</vt:lpstr>
      <vt:lpstr>RGB Color Model</vt:lpstr>
      <vt:lpstr>CMY Color Model</vt:lpstr>
      <vt:lpstr>RGB to CMY</vt:lpstr>
      <vt:lpstr>CMY To RGB</vt:lpstr>
      <vt:lpstr>Color Representation Techniques</vt:lpstr>
      <vt:lpstr>Color Representation Techniques  (Cont.)</vt:lpstr>
      <vt:lpstr>Color Representation Techniques  (Cont.)</vt:lpstr>
      <vt:lpstr>Printing</vt:lpstr>
      <vt:lpstr>Halftone Image</vt:lpstr>
      <vt:lpstr>Halftone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Representation</dc:title>
  <dc:creator>diptagomes@aiub.edu</dc:creator>
  <cp:lastModifiedBy>Admin</cp:lastModifiedBy>
  <cp:revision>90</cp:revision>
  <dcterms:created xsi:type="dcterms:W3CDTF">2020-04-25T12:14:00Z</dcterms:created>
  <dcterms:modified xsi:type="dcterms:W3CDTF">2025-03-17T20:03:49Z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FC518DDF802F49109A726404A92D9917_12</vt:lpwstr>
  </property>
  <property fmtid="{D5CDD505-2E9C-101B-9397-08002B2CF9AE}" pid="3" name="KSOProductBuildVer">
    <vt:lpwstr>1033-12.2.0.20326</vt:lpwstr>
  </property>
</Properties>
</file>